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6632"/>
            <a:ext cx="7772400" cy="1512168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Титульный слайд</a:t>
            </a:r>
            <a:endParaRPr lang="ru-RU" sz="4000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99792" y="2708920"/>
            <a:ext cx="5904656" cy="2952328"/>
          </a:xfrm>
        </p:spPr>
        <p:txBody>
          <a:bodyPr>
            <a:noAutofit/>
          </a:bodyPr>
          <a:lstStyle/>
          <a:p>
            <a:pPr algn="r"/>
            <a:r>
              <a:rPr lang="ru-RU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«Тёмный зал» </a:t>
            </a:r>
            <a:r>
              <a:rPr lang="ru-RU" sz="2400" dirty="0">
                <a:solidFill>
                  <a:schemeClr val="tx1"/>
                </a:solidFill>
                <a:latin typeface="Bahnschrift" panose="020B0502040204020203" pitchFamily="34" charset="0"/>
              </a:rPr>
              <a:t>- современный </a:t>
            </a:r>
            <a:r>
              <a:rPr lang="ru-RU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кинотеатр онлайн.</a:t>
            </a:r>
          </a:p>
          <a:p>
            <a:pPr algn="r"/>
            <a:endParaRPr lang="ru-RU" sz="2400" dirty="0">
              <a:solidFill>
                <a:srgbClr val="CC0066"/>
              </a:solidFill>
              <a:latin typeface="Bahnschrift" panose="020B0502040204020203" pitchFamily="34" charset="0"/>
            </a:endParaRPr>
          </a:p>
          <a:p>
            <a:pPr algn="r"/>
            <a:r>
              <a:rPr lang="ru-RU" sz="2400" dirty="0">
                <a:solidFill>
                  <a:srgbClr val="CC0066"/>
                </a:solidFill>
                <a:latin typeface="Bahnschrift" panose="020B0502040204020203" pitchFamily="34" charset="0"/>
              </a:rPr>
              <a:t>Разработано для курсовой </a:t>
            </a:r>
            <a:r>
              <a:rPr lang="ru-RU" sz="2400" dirty="0" smtClean="0">
                <a:solidFill>
                  <a:srgbClr val="CC0066"/>
                </a:solidFill>
                <a:latin typeface="Bahnschrift" panose="020B0502040204020203" pitchFamily="34" charset="0"/>
              </a:rPr>
              <a:t>работы.</a:t>
            </a:r>
          </a:p>
          <a:p>
            <a:pPr algn="r"/>
            <a:endParaRPr lang="ru-RU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r"/>
            <a:r>
              <a:rPr lang="ru-RU" sz="2400" u="sng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Студенты: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Келигов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Джабраил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Ахмедович</a:t>
            </a:r>
            <a:r>
              <a:rPr lang="en-US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,</a:t>
            </a:r>
          </a:p>
          <a:p>
            <a:pPr algn="r"/>
            <a:r>
              <a:rPr lang="en-US" sz="2400" dirty="0">
                <a:solidFill>
                  <a:schemeClr val="tx2"/>
                </a:solidFill>
                <a:latin typeface="Bahnschrift" panose="020B0502040204020203" pitchFamily="34" charset="0"/>
              </a:rPr>
              <a:t> </a:t>
            </a:r>
            <a:r>
              <a:rPr lang="en-US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        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  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Келигов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Исраил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</a:t>
            </a:r>
            <a:r>
              <a:rPr lang="ru-RU" sz="2400" dirty="0" err="1" smtClean="0">
                <a:solidFill>
                  <a:schemeClr val="tx2"/>
                </a:solidFill>
                <a:latin typeface="Bahnschrift" panose="020B0502040204020203" pitchFamily="34" charset="0"/>
              </a:rPr>
              <a:t>Ахмедович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.</a:t>
            </a:r>
          </a:p>
          <a:p>
            <a:pPr algn="r"/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Группа</a:t>
            </a:r>
            <a:r>
              <a:rPr lang="ru-RU" sz="2400" dirty="0">
                <a:solidFill>
                  <a:schemeClr val="tx2"/>
                </a:solidFill>
                <a:latin typeface="Bahnschrift" panose="020B0502040204020203" pitchFamily="34" charset="0"/>
              </a:rPr>
              <a:t>: 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 ТИИАД (б)-24</a:t>
            </a:r>
            <a:r>
              <a:rPr lang="en-US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, 2 </a:t>
            </a:r>
            <a:r>
              <a:rPr lang="ru-RU" sz="2400" dirty="0" smtClean="0">
                <a:solidFill>
                  <a:schemeClr val="tx2"/>
                </a:solidFill>
                <a:latin typeface="Bahnschrift" panose="020B0502040204020203" pitchFamily="34" charset="0"/>
              </a:rPr>
              <a:t>курс</a:t>
            </a:r>
            <a:r>
              <a:rPr lang="ru-RU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30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2: О проекте</a:t>
            </a:r>
            <a:br>
              <a:rPr lang="ru-RU" dirty="0">
                <a:solidFill>
                  <a:srgbClr val="FF0000"/>
                </a:solidFill>
                <a:latin typeface="Bahnschrift" panose="020B0502040204020203" pitchFamily="34" charset="0"/>
              </a:rPr>
            </a:br>
            <a:endParaRPr lang="ru-RU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030019"/>
          </a:xfrm>
        </p:spPr>
        <p:txBody>
          <a:bodyPr>
            <a:normAutofit fontScale="62500" lnSpcReduction="20000"/>
          </a:bodyPr>
          <a:lstStyle/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Цель проекта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Создание полнофункционального веб-сайта кинотеатра с возможностью: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· Просмотра афиши фильмов</a:t>
            </a:r>
          </a:p>
          <a:p>
            <a:r>
              <a:rPr lang="ru-RU" dirty="0">
                <a:latin typeface="Bahnschrift" panose="020B0502040204020203" pitchFamily="34" charset="0"/>
              </a:rPr>
              <a:t>· Проверки расписания сеансов</a:t>
            </a:r>
          </a:p>
          <a:p>
            <a:r>
              <a:rPr lang="ru-RU" dirty="0">
                <a:latin typeface="Bahnschrift" panose="020B0502040204020203" pitchFamily="34" charset="0"/>
              </a:rPr>
              <a:t>· Онлайн-бронирования билетов</a:t>
            </a:r>
          </a:p>
          <a:p>
            <a:r>
              <a:rPr lang="ru-RU" dirty="0">
                <a:latin typeface="Bahnschrift" panose="020B0502040204020203" pitchFamily="34" charset="0"/>
              </a:rPr>
              <a:t>· Управления контентом (админ-панель)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Технологии: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· HTML5, CSS3, </a:t>
            </a:r>
            <a:r>
              <a:rPr lang="ru-RU" dirty="0" err="1">
                <a:latin typeface="Bahnschrift" panose="020B0502040204020203" pitchFamily="34" charset="0"/>
              </a:rPr>
              <a:t>JavaScript</a:t>
            </a:r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· Адаптивный дизайн</a:t>
            </a:r>
          </a:p>
          <a:p>
            <a:r>
              <a:rPr lang="ru-RU" dirty="0">
                <a:latin typeface="Bahnschrift" panose="020B0502040204020203" pitchFamily="34" charset="0"/>
              </a:rPr>
              <a:t>· Локальное хранение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2890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3: Структура сайта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Основные разделы: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1. Главная страница - афиша фильмов</a:t>
            </a:r>
          </a:p>
          <a:p>
            <a:r>
              <a:rPr lang="ru-RU" dirty="0">
                <a:latin typeface="Bahnschrift" panose="020B0502040204020203" pitchFamily="34" charset="0"/>
              </a:rPr>
              <a:t>2. Расписание - сеансы на разные дни</a:t>
            </a:r>
          </a:p>
          <a:p>
            <a:r>
              <a:rPr lang="ru-RU" dirty="0">
                <a:latin typeface="Bahnschrift" panose="020B0502040204020203" pitchFamily="34" charset="0"/>
              </a:rPr>
              <a:t>3. Бронирование - онлайн-заказ </a:t>
            </a:r>
            <a:r>
              <a:rPr lang="ru-RU" dirty="0" smtClean="0">
                <a:latin typeface="Bahnschrift" panose="020B0502040204020203" pitchFamily="34" charset="0"/>
              </a:rPr>
              <a:t>билетов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4. О кинотеатре - информация и контакты</a:t>
            </a:r>
          </a:p>
          <a:p>
            <a:r>
              <a:rPr lang="ru-RU" dirty="0">
                <a:latin typeface="Bahnschrift" panose="020B0502040204020203" pitchFamily="34" charset="0"/>
              </a:rPr>
              <a:t>5. Админ-панель - управление контентом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Навигация: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r>
              <a:rPr lang="ru-RU" dirty="0">
                <a:latin typeface="Bahnschrift" panose="020B0502040204020203" pitchFamily="34" charset="0"/>
              </a:rPr>
              <a:t>· Верхнее меню для быстрого перехода</a:t>
            </a:r>
          </a:p>
          <a:p>
            <a:r>
              <a:rPr lang="ru-RU" dirty="0">
                <a:latin typeface="Bahnschrift" panose="020B0502040204020203" pitchFamily="34" charset="0"/>
              </a:rPr>
              <a:t>· Адаптивное меню для мобильных устройств</a:t>
            </a:r>
          </a:p>
          <a:p>
            <a:r>
              <a:rPr lang="ru-RU" dirty="0">
                <a:latin typeface="Bahnschrift" panose="020B0502040204020203" pitchFamily="34" charset="0"/>
              </a:rPr>
              <a:t>· Футер с дополнительными ссылками</a:t>
            </a:r>
          </a:p>
        </p:txBody>
      </p:sp>
    </p:spTree>
    <p:extLst>
      <p:ext uri="{BB962C8B-B14F-4D97-AF65-F5344CB8AC3E}">
        <p14:creationId xmlns:p14="http://schemas.microsoft.com/office/powerpoint/2010/main" val="372263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4: Главная страница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Функционал:</a:t>
            </a:r>
          </a:p>
          <a:p>
            <a:pPr marL="0" indent="0">
              <a:buNone/>
            </a:pPr>
            <a:endParaRPr lang="ru-RU" sz="1800" dirty="0" smtClean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Bahnschrift" panose="020B0502040204020203" pitchFamily="34" charset="0"/>
              </a:rPr>
              <a:t>· </a:t>
            </a:r>
            <a:r>
              <a:rPr lang="ru-RU" sz="1800" dirty="0">
                <a:latin typeface="Bahnschrift" panose="020B0502040204020203" pitchFamily="34" charset="0"/>
              </a:rPr>
              <a:t>Отображение всех фильмов с постерами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Карточка фильма содержит: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Изображение (загружается из папки </a:t>
            </a:r>
            <a:r>
              <a:rPr lang="ru-RU" sz="1800" dirty="0" err="1">
                <a:latin typeface="Bahnschrift" panose="020B0502040204020203" pitchFamily="34" charset="0"/>
              </a:rPr>
              <a:t>images</a:t>
            </a:r>
            <a:r>
              <a:rPr lang="ru-RU" sz="1800" dirty="0">
                <a:latin typeface="Bahnschrift" panose="020B0502040204020203" pitchFamily="34" charset="0"/>
              </a:rPr>
              <a:t>/)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Название, жанр и год выпуска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Кнопки "Подробнее" и "Купить билет"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Сортировка фильмов в сетке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Адаптивный дизайн (3 колонки на ПК, 1 на мобильном</a:t>
            </a:r>
            <a:r>
              <a:rPr lang="ru-RU" sz="1800" dirty="0" smtClean="0">
                <a:latin typeface="Bahnschrift" panose="020B0502040204020203" pitchFamily="34" charset="0"/>
              </a:rPr>
              <a:t>)</a:t>
            </a:r>
          </a:p>
          <a:p>
            <a:pPr marL="0" indent="0">
              <a:buNone/>
            </a:pPr>
            <a:endParaRPr lang="ru-RU" sz="1800" dirty="0">
              <a:latin typeface="Bahnschrift" panose="020B0502040204020203" pitchFamily="34" charset="0"/>
            </a:endParaRPr>
          </a:p>
          <a:p>
            <a:r>
              <a:rPr lang="ru-RU" sz="2400" b="1" dirty="0">
                <a:latin typeface="Bahnschrift" panose="020B0502040204020203" pitchFamily="34" charset="0"/>
              </a:rPr>
              <a:t>Особенности</a:t>
            </a:r>
            <a:r>
              <a:rPr lang="ru-RU" sz="2400" b="1" dirty="0" smtClean="0">
                <a:latin typeface="Bahnschrift" panose="020B0502040204020203" pitchFamily="34" charset="0"/>
              </a:rPr>
              <a:t>:</a:t>
            </a:r>
            <a:endParaRPr lang="ru-RU" sz="20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Загрузка изображений из локальной папки</a:t>
            </a:r>
          </a:p>
          <a:p>
            <a:pPr marL="0" indent="0">
              <a:buNone/>
            </a:pPr>
            <a:r>
              <a:rPr lang="ru-RU" sz="1800" dirty="0">
                <a:latin typeface="Bahnschrift" panose="020B0502040204020203" pitchFamily="34" charset="0"/>
              </a:rPr>
              <a:t>· Эффекты наведения на </a:t>
            </a:r>
            <a:r>
              <a:rPr lang="ru-RU" sz="1800" dirty="0" smtClean="0">
                <a:latin typeface="Bahnschrift" panose="020B0502040204020203" pitchFamily="34" charset="0"/>
              </a:rPr>
              <a:t>карточки</a:t>
            </a:r>
          </a:p>
          <a:p>
            <a:pPr marL="0" indent="0">
              <a:buNone/>
            </a:pPr>
            <a:r>
              <a:rPr lang="ru-RU" sz="1800" dirty="0" smtClean="0">
                <a:latin typeface="Bahnschrift" panose="020B0502040204020203" pitchFamily="34" charset="0"/>
              </a:rPr>
              <a:t>· Быстрый </a:t>
            </a:r>
            <a:r>
              <a:rPr lang="ru-RU" sz="1800" dirty="0">
                <a:latin typeface="Bahnschrift" panose="020B0502040204020203" pitchFamily="34" charset="0"/>
              </a:rPr>
              <a:t>доступ к </a:t>
            </a:r>
            <a:r>
              <a:rPr lang="ru-RU" sz="1800" dirty="0" smtClean="0">
                <a:latin typeface="Bahnschrift" panose="020B0502040204020203" pitchFamily="34" charset="0"/>
              </a:rPr>
              <a:t>бронированию.</a:t>
            </a:r>
            <a:endParaRPr lang="ru-RU" sz="1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0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5: Расписание </a:t>
            </a:r>
            <a:r>
              <a:rPr lang="ru-RU" sz="4000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сеансов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z="3800" b="1" dirty="0">
                <a:latin typeface="Bahnschrift" panose="020B0502040204020203" pitchFamily="34" charset="0"/>
              </a:rPr>
              <a:t>Функционал:</a:t>
            </a:r>
          </a:p>
          <a:p>
            <a:endParaRPr lang="ru-RU" dirty="0">
              <a:latin typeface="Bahnschrift" panose="020B05020402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Выбор даты (сегодня/завтра/послезавтра)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Таблица сеансов с информацией: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Время показа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Название фильма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Номер зала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Стоимость билета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Различные цены в зависимости от времени: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Утренние сеансы: 250 руб.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Дневные сеансы: 350 руб.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Bahnschrift" panose="020B0502040204020203" pitchFamily="34" charset="0"/>
              </a:rPr>
              <a:t>· Вечерние сеансы: 450 руб.</a:t>
            </a:r>
          </a:p>
        </p:txBody>
      </p:sp>
    </p:spTree>
    <p:extLst>
      <p:ext uri="{BB962C8B-B14F-4D97-AF65-F5344CB8AC3E}">
        <p14:creationId xmlns:p14="http://schemas.microsoft.com/office/powerpoint/2010/main" val="371285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6: Бронирование билетов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Форма бронирования:</a:t>
            </a:r>
          </a:p>
          <a:p>
            <a:endParaRPr lang="ru-RU" sz="20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Bahnschrift" panose="020B0502040204020203" pitchFamily="34" charset="0"/>
              </a:rPr>
              <a:t>1</a:t>
            </a:r>
            <a:r>
              <a:rPr lang="ru-RU" sz="2000" dirty="0">
                <a:latin typeface="Bahnschrift" panose="020B0502040204020203" pitchFamily="34" charset="0"/>
              </a:rPr>
              <a:t>. Выбор фильма из списка</a:t>
            </a: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2. Выбор даты </a:t>
            </a:r>
            <a:r>
              <a:rPr lang="ru-RU" sz="2000" dirty="0" smtClean="0">
                <a:latin typeface="Bahnschrift" panose="020B0502040204020203" pitchFamily="34" charset="0"/>
              </a:rPr>
              <a:t>сеанса</a:t>
            </a:r>
          </a:p>
          <a:p>
            <a:pPr marL="0" indent="0">
              <a:buNone/>
            </a:pPr>
            <a:r>
              <a:rPr lang="ru-RU" sz="2000" dirty="0" smtClean="0">
                <a:latin typeface="Bahnschrift" panose="020B0502040204020203" pitchFamily="34" charset="0"/>
              </a:rPr>
              <a:t>3</a:t>
            </a:r>
            <a:r>
              <a:rPr lang="ru-RU" sz="2000" dirty="0">
                <a:latin typeface="Bahnschrift" panose="020B0502040204020203" pitchFamily="34" charset="0"/>
              </a:rPr>
              <a:t>. Выбор времени (5 вариантов)</a:t>
            </a: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4. Указание количества мест (1-10)</a:t>
            </a:r>
          </a:p>
          <a:p>
            <a:endParaRPr lang="ru-RU" sz="2000" dirty="0">
              <a:latin typeface="Bahnschrift" panose="020B0502040204020203" pitchFamily="34" charset="0"/>
            </a:endParaRPr>
          </a:p>
          <a:p>
            <a:r>
              <a:rPr lang="ru-RU" sz="2400" b="1" dirty="0">
                <a:latin typeface="Bahnschrift" panose="020B0502040204020203" pitchFamily="34" charset="0"/>
              </a:rPr>
              <a:t>Особенности:</a:t>
            </a:r>
          </a:p>
          <a:p>
            <a:endParaRPr lang="ru-RU" sz="20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· Автоматический расчет стоимости</a:t>
            </a: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· Проверка данных перед бронированием</a:t>
            </a: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· Подтверждение брони с деталями</a:t>
            </a:r>
          </a:p>
          <a:p>
            <a:pPr marL="0" indent="0">
              <a:buNone/>
            </a:pPr>
            <a:r>
              <a:rPr lang="ru-RU" sz="2000" dirty="0">
                <a:latin typeface="Bahnschrift" panose="020B0502040204020203" pitchFamily="34" charset="0"/>
              </a:rPr>
              <a:t>· Информация о ценах в зависимости от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43391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7: О кинотеатре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000" dirty="0" smtClean="0">
                <a:latin typeface="Bahnschrift" panose="020B0502040204020203" pitchFamily="34" charset="0"/>
              </a:rPr>
              <a:t>· </a:t>
            </a:r>
            <a:r>
              <a:rPr lang="ru-RU" sz="2000" dirty="0">
                <a:latin typeface="Bahnschrift" panose="020B0502040204020203" pitchFamily="34" charset="0"/>
              </a:rPr>
              <a:t>История кинотеатра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Преимущества и услуги: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Современное оборудование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Комфортные кресла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Онлайн-бронирование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Бар с закусками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Контактная информация: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Адрес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Телефон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</a:t>
            </a:r>
            <a:r>
              <a:rPr lang="ru-RU" sz="2000" dirty="0" err="1">
                <a:latin typeface="Bahnschrift" panose="020B0502040204020203" pitchFamily="34" charset="0"/>
              </a:rPr>
              <a:t>Email</a:t>
            </a:r>
            <a:endParaRPr lang="ru-RU" sz="2000" dirty="0">
              <a:latin typeface="Bahnschrift" panose="020B05020402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>
                <a:latin typeface="Bahnschrift" panose="020B0502040204020203" pitchFamily="34" charset="0"/>
              </a:rPr>
              <a:t>· Часы работы</a:t>
            </a:r>
          </a:p>
          <a:p>
            <a:endParaRPr lang="ru-RU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46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  <a:latin typeface="Bahnschrift" panose="020B0502040204020203" pitchFamily="34" charset="0"/>
              </a:rPr>
              <a:t>Слайд 9</a:t>
            </a:r>
            <a:r>
              <a:rPr lang="ru-RU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: </a:t>
            </a:r>
            <a:r>
              <a:rPr lang="ru-RU" dirty="0">
                <a:solidFill>
                  <a:srgbClr val="FF0000"/>
                </a:solidFill>
                <a:latin typeface="Bahnschrift" panose="020B0502040204020203" pitchFamily="34" charset="0"/>
              </a:rPr>
              <a:t>Инструкция по использованию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ru-RU" sz="24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Bahnschrift" panose="020B0502040204020203" pitchFamily="34" charset="0"/>
              </a:rPr>
              <a:t>1. Выберите фильм на главной странице</a:t>
            </a:r>
          </a:p>
          <a:p>
            <a:pPr marL="0" indent="0">
              <a:buNone/>
            </a:pPr>
            <a:r>
              <a:rPr lang="ru-RU" sz="2400" dirty="0">
                <a:latin typeface="Bahnschrift" panose="020B0502040204020203" pitchFamily="34" charset="0"/>
              </a:rPr>
              <a:t>2. Нажмите "Подробнее" для информации</a:t>
            </a:r>
          </a:p>
          <a:p>
            <a:pPr marL="0" indent="0">
              <a:buNone/>
            </a:pPr>
            <a:r>
              <a:rPr lang="ru-RU" sz="2400" dirty="0">
                <a:latin typeface="Bahnschrift" panose="020B0502040204020203" pitchFamily="34" charset="0"/>
              </a:rPr>
              <a:t>3. Нажмите "Купить билет" для бронирования</a:t>
            </a:r>
          </a:p>
          <a:p>
            <a:pPr marL="0" indent="0">
              <a:buNone/>
            </a:pPr>
            <a:r>
              <a:rPr lang="ru-RU" sz="2400" dirty="0">
                <a:latin typeface="Bahnschrift" panose="020B0502040204020203" pitchFamily="34" charset="0"/>
              </a:rPr>
              <a:t>4. Заполните форму бронирования</a:t>
            </a:r>
          </a:p>
          <a:p>
            <a:pPr marL="0" indent="0">
              <a:buNone/>
            </a:pPr>
            <a:r>
              <a:rPr lang="ru-RU" sz="2400" dirty="0">
                <a:latin typeface="Bahnschrift" panose="020B0502040204020203" pitchFamily="34" charset="0"/>
              </a:rPr>
              <a:t>5. Получите подтверждение</a:t>
            </a:r>
          </a:p>
          <a:p>
            <a:pPr marL="0" indent="0">
              <a:buNone/>
            </a:pPr>
            <a:endParaRPr lang="ru-RU" sz="1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83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422</Words>
  <Application>Microsoft Office PowerPoint</Application>
  <PresentationFormat>Экран (4:3)</PresentationFormat>
  <Paragraphs>100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Титульный слайд</vt:lpstr>
      <vt:lpstr>Слайд 2: О проекте </vt:lpstr>
      <vt:lpstr>Слайд 3: Структура сайта</vt:lpstr>
      <vt:lpstr>Слайд 4: Главная страница</vt:lpstr>
      <vt:lpstr>Слайд 5: Расписание сеансов</vt:lpstr>
      <vt:lpstr>Слайд 6: Бронирование билетов </vt:lpstr>
      <vt:lpstr>Слайд 7: О кинотеатре</vt:lpstr>
      <vt:lpstr>Слайд 9: Инструкция по использованию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</dc:title>
  <dc:creator>Пользователь</dc:creator>
  <cp:lastModifiedBy>Пользователь</cp:lastModifiedBy>
  <cp:revision>6</cp:revision>
  <dcterms:created xsi:type="dcterms:W3CDTF">2026-01-18T14:20:56Z</dcterms:created>
  <dcterms:modified xsi:type="dcterms:W3CDTF">2026-01-18T15:23:34Z</dcterms:modified>
</cp:coreProperties>
</file>